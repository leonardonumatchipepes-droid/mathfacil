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57" r:id="rId2"/>
    <p:sldId id="259" r:id="rId3"/>
    <p:sldId id="261" r:id="rId4"/>
    <p:sldId id="270" r:id="rId5"/>
    <p:sldId id="279" r:id="rId6"/>
    <p:sldId id="286" r:id="rId7"/>
    <p:sldId id="287" r:id="rId8"/>
    <p:sldId id="288" r:id="rId9"/>
    <p:sldId id="289" r:id="rId10"/>
    <p:sldId id="284" r:id="rId11"/>
    <p:sldId id="285" r:id="rId12"/>
    <p:sldId id="266" r:id="rId13"/>
    <p:sldId id="277" r:id="rId14"/>
    <p:sldId id="268" r:id="rId15"/>
    <p:sldId id="262" r:id="rId16"/>
    <p:sldId id="264" r:id="rId17"/>
    <p:sldId id="278" r:id="rId18"/>
    <p:sldId id="283" r:id="rId19"/>
    <p:sldId id="280" r:id="rId20"/>
    <p:sldId id="281" r:id="rId21"/>
    <p:sldId id="282" r:id="rId22"/>
    <p:sldId id="272" r:id="rId23"/>
    <p:sldId id="274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24" autoAdjust="0"/>
  </p:normalViewPr>
  <p:slideViewPr>
    <p:cSldViewPr snapToGrid="0">
      <p:cViewPr varScale="1">
        <p:scale>
          <a:sx n="104" d="100"/>
          <a:sy n="104" d="100"/>
        </p:scale>
        <p:origin x="78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4800" u="sng" dirty="0">
                <a:solidFill>
                  <a:schemeClr val="bg1"/>
                </a:solidFill>
              </a:rPr>
              <a:t>RESULTADOS</a:t>
            </a:r>
            <a:endParaRPr lang="pt-BR" sz="4800" u="sng" dirty="0"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4.7015794034417101E-2"/>
          <c:y val="0.24611710695655276"/>
          <c:w val="0.92954675196850389"/>
          <c:h val="0.641461648541925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IºT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Plan1!$A$2:$A$10</c:f>
              <c:strCache>
                <c:ptCount val="9"/>
                <c:pt idx="0">
                  <c:v>Aluno A</c:v>
                </c:pt>
                <c:pt idx="1">
                  <c:v>Aluno B</c:v>
                </c:pt>
                <c:pt idx="2">
                  <c:v>Aluno C</c:v>
                </c:pt>
                <c:pt idx="3">
                  <c:v>Aluno D</c:v>
                </c:pt>
                <c:pt idx="4">
                  <c:v>Aluno E</c:v>
                </c:pt>
                <c:pt idx="5">
                  <c:v>Aluno F</c:v>
                </c:pt>
                <c:pt idx="6">
                  <c:v>Aluno G</c:v>
                </c:pt>
                <c:pt idx="7">
                  <c:v>Aluno H</c:v>
                </c:pt>
                <c:pt idx="8">
                  <c:v>Aluno I</c:v>
                </c:pt>
              </c:strCache>
            </c:strRef>
          </c:cat>
          <c:val>
            <c:numRef>
              <c:f>Plan1!$B$2:$B$10</c:f>
              <c:numCache>
                <c:formatCode>General</c:formatCode>
                <c:ptCount val="9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11</c:v>
                </c:pt>
                <c:pt idx="4">
                  <c:v>10</c:v>
                </c:pt>
                <c:pt idx="5">
                  <c:v>12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4D-4F89-B55A-912D38E31394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IIº 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Plan1!$A$2:$A$10</c:f>
              <c:strCache>
                <c:ptCount val="9"/>
                <c:pt idx="0">
                  <c:v>Aluno A</c:v>
                </c:pt>
                <c:pt idx="1">
                  <c:v>Aluno B</c:v>
                </c:pt>
                <c:pt idx="2">
                  <c:v>Aluno C</c:v>
                </c:pt>
                <c:pt idx="3">
                  <c:v>Aluno D</c:v>
                </c:pt>
                <c:pt idx="4">
                  <c:v>Aluno E</c:v>
                </c:pt>
                <c:pt idx="5">
                  <c:v>Aluno F</c:v>
                </c:pt>
                <c:pt idx="6">
                  <c:v>Aluno G</c:v>
                </c:pt>
                <c:pt idx="7">
                  <c:v>Aluno H</c:v>
                </c:pt>
                <c:pt idx="8">
                  <c:v>Aluno I</c:v>
                </c:pt>
              </c:strCache>
            </c:strRef>
          </c:cat>
          <c:val>
            <c:numRef>
              <c:f>Plan1!$C$2:$C$10</c:f>
              <c:numCache>
                <c:formatCode>General</c:formatCode>
                <c:ptCount val="9"/>
                <c:pt idx="0">
                  <c:v>15</c:v>
                </c:pt>
                <c:pt idx="1">
                  <c:v>14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  <c:pt idx="5">
                  <c:v>13</c:v>
                </c:pt>
                <c:pt idx="6">
                  <c:v>11</c:v>
                </c:pt>
                <c:pt idx="7">
                  <c:v>13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4D-4F89-B55A-912D38E31394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IIIº T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lumMod val="114000"/>
                  </a:schemeClr>
                </a:gs>
                <a:gs pos="100000">
                  <a:schemeClr val="accent3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Plan1!$A$2:$A$10</c:f>
              <c:strCache>
                <c:ptCount val="9"/>
                <c:pt idx="0">
                  <c:v>Aluno A</c:v>
                </c:pt>
                <c:pt idx="1">
                  <c:v>Aluno B</c:v>
                </c:pt>
                <c:pt idx="2">
                  <c:v>Aluno C</c:v>
                </c:pt>
                <c:pt idx="3">
                  <c:v>Aluno D</c:v>
                </c:pt>
                <c:pt idx="4">
                  <c:v>Aluno E</c:v>
                </c:pt>
                <c:pt idx="5">
                  <c:v>Aluno F</c:v>
                </c:pt>
                <c:pt idx="6">
                  <c:v>Aluno G</c:v>
                </c:pt>
                <c:pt idx="7">
                  <c:v>Aluno H</c:v>
                </c:pt>
                <c:pt idx="8">
                  <c:v>Aluno I</c:v>
                </c:pt>
              </c:strCache>
            </c:strRef>
          </c:cat>
          <c:val>
            <c:numRef>
              <c:f>Plan1!$D$2:$D$10</c:f>
              <c:numCache>
                <c:formatCode>General</c:formatCode>
                <c:ptCount val="9"/>
                <c:pt idx="0">
                  <c:v>17</c:v>
                </c:pt>
                <c:pt idx="1">
                  <c:v>14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14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4D-4F89-B55A-912D38E313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6732032"/>
        <c:axId val="66733568"/>
      </c:barChart>
      <c:catAx>
        <c:axId val="6673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6733568"/>
        <c:crosses val="autoZero"/>
        <c:auto val="1"/>
        <c:lblAlgn val="ctr"/>
        <c:lblOffset val="100"/>
        <c:noMultiLvlLbl val="0"/>
      </c:catAx>
      <c:valAx>
        <c:axId val="66733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6732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55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2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07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81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24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35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8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63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39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33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339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349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50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607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68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723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63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8695E-0215-4AC2-A9D0-D071B1CC361A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D8EB-1583-480E-ADB9-3A9DE007FC5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056659"/>
      </p:ext>
    </p:extLst>
  </p:cSld>
  <p:clrMapOvr>
    <a:masterClrMapping/>
  </p:clrMapOvr>
  <p:transition spd="med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704038"/>
      </p:ext>
    </p:extLst>
  </p:cSld>
  <p:clrMapOvr>
    <a:masterClrMapping/>
  </p:clrMapOvr>
  <p:transition spd="med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FB9690-7A94-4061-AC38-BD554D59FE15}" type="datetimeFigureOut">
              <a:rPr lang="pt-BR" smtClean="0"/>
              <a:pPr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44B5C-F178-4A63-B367-799A2930689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485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transition spd="med">
    <p:wedge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08540" y="427072"/>
            <a:ext cx="9660553" cy="1668391"/>
          </a:xfrm>
        </p:spPr>
        <p:txBody>
          <a:bodyPr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pt-BR" sz="1900" b="1" i="0" u="none" strike="noStrike" baseline="0" dirty="0">
                <a:latin typeface="Arial" panose="020B0604020202020204" pitchFamily="34" charset="0"/>
              </a:rPr>
              <a:t>REPÚBLICA</a:t>
            </a:r>
            <a:r>
              <a:rPr lang="pt-BR" sz="1900" b="1" i="0" u="none" strike="noStrike" dirty="0">
                <a:latin typeface="Arial" panose="020B0604020202020204" pitchFamily="34" charset="0"/>
              </a:rPr>
              <a:t> ANGOLA</a:t>
            </a:r>
            <a:br>
              <a:rPr lang="pt-BR" sz="1900" b="1" i="0" u="none" strike="noStrike" dirty="0">
                <a:latin typeface="Arial" panose="020B0604020202020204" pitchFamily="34" charset="0"/>
              </a:rPr>
            </a:br>
            <a:r>
              <a:rPr lang="pt-BR" sz="1900" b="1" dirty="0">
                <a:latin typeface="Arial" panose="020B0604020202020204" pitchFamily="34" charset="0"/>
              </a:rPr>
              <a:t>MINISTÉRIO DO ENSINO SUPERIOR, CIÊNCIAS, TECNOLOGIA E INOVAÇÃO</a:t>
            </a:r>
            <a:r>
              <a:rPr lang="pt-BR" sz="1900" b="1" i="0" u="none" strike="noStrike" baseline="0" dirty="0">
                <a:latin typeface="Arial" panose="020B0604020202020204" pitchFamily="34" charset="0"/>
              </a:rPr>
              <a:t/>
            </a:r>
            <a:br>
              <a:rPr lang="pt-BR" sz="1900" b="1" i="0" u="none" strike="noStrike" baseline="0" dirty="0">
                <a:latin typeface="Arial" panose="020B0604020202020204" pitchFamily="34" charset="0"/>
              </a:rPr>
            </a:br>
            <a:r>
              <a:rPr lang="pt-BR" sz="1900" b="1" i="0" u="none" strike="noStrike" baseline="0" dirty="0">
                <a:latin typeface="Arial" panose="020B0604020202020204" pitchFamily="34" charset="0"/>
              </a:rPr>
              <a:t> </a:t>
            </a:r>
            <a:r>
              <a:rPr lang="pt-BR" sz="1900" b="1" dirty="0">
                <a:latin typeface="Arial" panose="020B0604020202020204" pitchFamily="34" charset="0"/>
              </a:rPr>
              <a:t>INSTITUTO SUPERIOR DE CIÊNCIAS DE EDUCAÇÃO DE BENGUELA</a:t>
            </a:r>
            <a:endParaRPr lang="pt-BR" sz="1900" b="1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82869" y="3042749"/>
            <a:ext cx="9128235" cy="2767025"/>
          </a:xfrm>
        </p:spPr>
        <p:txBody>
          <a:bodyPr>
            <a:noAutofit/>
          </a:bodyPr>
          <a:lstStyle/>
          <a:p>
            <a:pPr marL="0" marR="0" lvl="0" indent="0" algn="ctr" rtl="0">
              <a:lnSpc>
                <a:spcPct val="120000"/>
              </a:lnSpc>
              <a:buNone/>
            </a:pPr>
            <a:r>
              <a:rPr lang="pt-PT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MATH FÁCIL: UM APLICATIVO EDUCACIONAL COMO FERRAMENTA  AUXILIAR NA APRENDIZAGEM DA MATEMÁTICA NOS DIFERENTES SUBSISTEMAS DE ENSINO</a:t>
            </a: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849730" y="6387728"/>
            <a:ext cx="37100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pt-BR" sz="1600" b="1" i="1" dirty="0">
                <a:latin typeface="Arial" panose="020B0604020202020204" pitchFamily="34" charset="0"/>
              </a:rPr>
              <a:t>Cuanza Norte</a:t>
            </a:r>
            <a:r>
              <a:rPr lang="pt-BR" sz="1600" b="1" i="1" u="none" strike="noStrike" baseline="0" dirty="0">
                <a:latin typeface="Arial" panose="020B0604020202020204" pitchFamily="34" charset="0"/>
              </a:rPr>
              <a:t>, 26</a:t>
            </a:r>
            <a:r>
              <a:rPr lang="pt-BR" sz="1600" b="1" i="1" u="none" strike="noStrike" dirty="0">
                <a:latin typeface="Arial" panose="020B0604020202020204" pitchFamily="34" charset="0"/>
              </a:rPr>
              <a:t> de Agosto de </a:t>
            </a:r>
            <a:r>
              <a:rPr lang="pt-BR" sz="1600" b="1" i="1" u="none" strike="noStrike" baseline="0" dirty="0">
                <a:latin typeface="Arial" panose="020B0604020202020204" pitchFamily="34" charset="0"/>
              </a:rPr>
              <a:t>2025</a:t>
            </a:r>
          </a:p>
        </p:txBody>
      </p:sp>
      <p:sp>
        <p:nvSpPr>
          <p:cNvPr id="5" name="Retângulo 4"/>
          <p:cNvSpPr/>
          <p:nvPr/>
        </p:nvSpPr>
        <p:spPr>
          <a:xfrm>
            <a:off x="2135832" y="2452780"/>
            <a:ext cx="7579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PT" b="1" u="sng" dirty="0">
                <a:solidFill>
                  <a:srgbClr val="FF0000"/>
                </a:solidFill>
                <a:latin typeface="Arial" panose="020B0604020202020204" pitchFamily="34" charset="0"/>
              </a:rPr>
              <a:t>II º </a:t>
            </a:r>
            <a:r>
              <a:rPr lang="pt-PT" b="1" i="0" u="sng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ENCONTRO  ESCOLAS SUPERIORES PEDAGÓGICAS E ISCEDs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" y="674742"/>
            <a:ext cx="1059981" cy="116939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746" y="3321317"/>
            <a:ext cx="2276111" cy="22761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CaixaDeTexto 6"/>
          <p:cNvSpPr txBox="1"/>
          <p:nvPr/>
        </p:nvSpPr>
        <p:spPr>
          <a:xfrm>
            <a:off x="3279232" y="5697959"/>
            <a:ext cx="550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AUTOR: LEONARDO NUMA TCHIPEPE</a:t>
            </a:r>
            <a:endParaRPr lang="pt-B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C:\Users\Daniel Kutalica\Documents\1753966199106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547126" y="709449"/>
            <a:ext cx="1120073" cy="10685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5822941"/>
      </p:ext>
    </p:extLst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4" grpId="0"/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68003" y="622891"/>
            <a:ext cx="4375245" cy="1325563"/>
          </a:xfrm>
        </p:spPr>
        <p:txBody>
          <a:bodyPr/>
          <a:lstStyle/>
          <a:p>
            <a:pPr marR="0" rtl="0"/>
            <a:r>
              <a:rPr lang="pt-PT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pt-PT" sz="4800" b="1" i="0" u="none" strike="noStrike" baseline="0" dirty="0">
                <a:latin typeface="Arial" panose="020B0604020202020204" pitchFamily="34" charset="0"/>
              </a:rPr>
              <a:t>OBJETIVOS</a:t>
            </a:r>
            <a:r>
              <a:rPr lang="pt-PT" b="0" i="0" u="none" strike="noStrike" baseline="0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65245" y="2380592"/>
            <a:ext cx="11164300" cy="3957145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3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Apresentar o aplicativo Math Fácil como ferramenta inovadora para o ensino da Matemática em Angola.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3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Analisar</a:t>
            </a:r>
            <a:r>
              <a:rPr lang="pt-PT" sz="3000" b="0" i="0" u="none" strike="noStrike" dirty="0">
                <a:solidFill>
                  <a:schemeClr val="tx1"/>
                </a:solidFill>
                <a:latin typeface="Arial" panose="020B0604020202020204" pitchFamily="34" charset="0"/>
              </a:rPr>
              <a:t> o </a:t>
            </a:r>
            <a:r>
              <a:rPr lang="pt-PT" sz="3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funcionamento, impacto e recomendações para o uso do aplicativo em diferentes subsistemas de ensino</a:t>
            </a:r>
            <a:r>
              <a:rPr lang="pt-PT" sz="3000" b="0" i="0" u="none" strike="noStrike" dirty="0">
                <a:solidFill>
                  <a:schemeClr val="tx1"/>
                </a:solidFill>
                <a:latin typeface="Arial" panose="020B0604020202020204" pitchFamily="34" charset="0"/>
              </a:rPr>
              <a:t> com maior incidência no Ensino Primário, Secundário(I &amp; II ciclo.)</a:t>
            </a:r>
            <a:endParaRPr lang="pt-PT" sz="3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704165070"/>
      </p:ext>
    </p:extLst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5276" y="796247"/>
            <a:ext cx="8761413" cy="1059848"/>
          </a:xfrm>
        </p:spPr>
        <p:txBody>
          <a:bodyPr>
            <a:normAutofit fontScale="90000"/>
          </a:bodyPr>
          <a:lstStyle/>
          <a:p>
            <a:pPr marR="0" algn="ctr" rtl="0"/>
            <a:r>
              <a:rPr lang="pt-PT" sz="4000" b="1" i="0" u="none" strike="noStrike" baseline="0" dirty="0">
                <a:latin typeface="Arial" panose="020B0604020202020204" pitchFamily="34" charset="0"/>
              </a:rPr>
              <a:t>O DESAFIO DO ENSINO DA MATEMÁTICA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2427" y="2280626"/>
            <a:ext cx="10131745" cy="4253435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Altos índices de reprovação e dificuldades de assimilação em Matemática nos níveis básico e médio.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Pouco acesso a recursos didáticos atualizados e limitações metodológicas.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Necessidade urgente de inovação pedagógica e motivação dos estudantes.</a:t>
            </a:r>
          </a:p>
          <a:p>
            <a:pPr marR="0" lvl="0" rtl="0"/>
            <a:endParaRPr lang="pt-BR" sz="2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755772398"/>
      </p:ext>
    </p:extLst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BR" b="1" i="0" u="none" strike="noStrike" baseline="0" dirty="0">
                <a:latin typeface="Arial" panose="020B0604020202020204" pitchFamily="34" charset="0"/>
              </a:rPr>
              <a:t> FUNDAMENTAÇÃO TEÓRICA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4233" y="2284983"/>
            <a:ext cx="10515600" cy="4152094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pt-PT" sz="32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pt-PT" sz="32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 nas teorias de Piaget (aprendizagem ativa), Vygotsky (mediações culturais) e  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González (mediações digitais )</a:t>
            </a:r>
            <a:r>
              <a:rPr lang="pt-PT" sz="3200" b="0" i="0" u="none" strike="no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 </a:t>
            </a:r>
            <a:r>
              <a:rPr lang="pt-PT" sz="32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literatura sobre tecnologias educacionais.</a:t>
            </a:r>
          </a:p>
          <a:p>
            <a:pPr marR="0" lvl="0" rtl="0">
              <a:lnSpc>
                <a:spcPct val="150000"/>
              </a:lnSpc>
            </a:pPr>
            <a:r>
              <a:rPr lang="pt-PT" sz="32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Gamificação e personalização como estratégias chave para engajamento.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057002082"/>
      </p:ext>
    </p:extLst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1338" y="835572"/>
            <a:ext cx="9664262" cy="1550727"/>
          </a:xfrm>
        </p:spPr>
        <p:txBody>
          <a:bodyPr/>
          <a:lstStyle/>
          <a:p>
            <a:pPr algn="ctr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PIAGET (APRENDIZAGEM ATIVA),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2"/>
          </p:nvPr>
        </p:nvSpPr>
        <p:spPr>
          <a:xfrm>
            <a:off x="1277007" y="3512687"/>
            <a:ext cx="9238593" cy="2888293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PT" sz="3600" b="1" dirty="0">
                <a:solidFill>
                  <a:schemeClr val="tx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Jean Piaget: </a:t>
            </a:r>
            <a:r>
              <a:rPr lang="pt-PT" sz="3600" dirty="0">
                <a:solidFill>
                  <a:schemeClr val="tx1"/>
                </a:solidFill>
              </a:rPr>
              <a:t>“A principal meta da educação é criar pessoas capazes de fazer coisas novas, e não simplesmente repetir o que as outras gerações fizeram.”</a:t>
            </a:r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52843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46669586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1338" y="835572"/>
            <a:ext cx="9664262" cy="1550727"/>
          </a:xfrm>
        </p:spPr>
        <p:txBody>
          <a:bodyPr/>
          <a:lstStyle/>
          <a:p>
            <a:pPr algn="ctr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VYGOTSKY (MEDIAÇÕES CULTURAIS)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2"/>
          <p:cNvSpPr txBox="1">
            <a:spLocks/>
          </p:cNvSpPr>
          <p:nvPr/>
        </p:nvSpPr>
        <p:spPr>
          <a:xfrm>
            <a:off x="961697" y="3363020"/>
            <a:ext cx="10452537" cy="30563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3600" b="1" dirty="0">
                <a:solidFill>
                  <a:schemeClr val="tx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Lev Vygotsky: </a:t>
            </a:r>
            <a:r>
              <a:rPr lang="pt-PT" sz="3200" dirty="0">
                <a:solidFill>
                  <a:schemeClr val="tx1"/>
                </a:solidFill>
              </a:rPr>
              <a:t>“Enfatiza que o professor não é apenas transmissor do conhecimento , mas mediador que cria condições para que o aluno construa o saber por meio da interação, colaboração e uso de ferramentas.”</a:t>
            </a:r>
            <a:endParaRPr lang="pt-BR" sz="3200" dirty="0">
              <a:solidFill>
                <a:schemeClr val="tx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0226723" y="6452843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727037612"/>
      </p:ext>
    </p:extLst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/>
          <p:cNvSpPr txBox="1">
            <a:spLocks/>
          </p:cNvSpPr>
          <p:nvPr/>
        </p:nvSpPr>
        <p:spPr>
          <a:xfrm>
            <a:off x="536027" y="3137338"/>
            <a:ext cx="11272345" cy="3439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González (2021), 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 que “a aprendizagem (...) é um processo consciente de apropriação de saberes matemáticos, que se produz através da atividade matemática mediada pelo professor no plano social e pelas tecnologias digitais enquanto mediadores instrumentais (p. 29)”. 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 bwMode="gray">
          <a:xfrm>
            <a:off x="220717" y="1077595"/>
            <a:ext cx="11655973" cy="13660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PT" sz="3800" b="1" dirty="0">
                <a:latin typeface="Arial" panose="020B0604020202020204" pitchFamily="34" charset="0"/>
                <a:cs typeface="Arial" panose="020B0604020202020204" pitchFamily="34" charset="0"/>
              </a:rPr>
              <a:t>MEDIAÇÕES DIGITAIS SEGUNDO </a:t>
            </a:r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GONZÁLEZ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007829752"/>
      </p:ext>
    </p:extLst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/>
          <p:cNvSpPr txBox="1">
            <a:spLocks/>
          </p:cNvSpPr>
          <p:nvPr/>
        </p:nvSpPr>
        <p:spPr>
          <a:xfrm>
            <a:off x="693684" y="2307469"/>
            <a:ext cx="10610192" cy="4471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dirty="0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75897" y="2307469"/>
            <a:ext cx="11445765" cy="389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Além disso, </a:t>
            </a:r>
            <a:r>
              <a:rPr lang="pt-BR" sz="2800" dirty="0" err="1"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Gonzaléz</a:t>
            </a: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 reconhece o papel das mediações digitais como “o processo através do qual se produzem interações e intercâmbios comunicativos entre o professor, os estudantes, o objeto de aprendizagem e as tecnologias digitais apropriadas e disponíveis, que facilita a construção e a reconstrução personalizada e colaborativa de significados (p. 35)”.</a:t>
            </a:r>
            <a:endParaRPr lang="pt-BR" sz="2000" dirty="0">
              <a:latin typeface="Consolas" panose="020B0609020204030204" pitchFamily="49" charset="0"/>
              <a:ea typeface="Calibri" panose="020F0502020204030204" pitchFamily="34" charset="0"/>
              <a:cs typeface="Mangal"/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MEDIAÇÕES DIGITAIS SEGUNDO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GONZÁLEZ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4080283362"/>
      </p:ext>
    </p:extLst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1793" y="699222"/>
            <a:ext cx="10752083" cy="1366061"/>
          </a:xfrm>
        </p:spPr>
        <p:txBody>
          <a:bodyPr/>
          <a:lstStyle/>
          <a:p>
            <a:pPr algn="ctr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MEDIAÇÕES DIGITAIS 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2"/>
          <p:cNvSpPr txBox="1">
            <a:spLocks/>
          </p:cNvSpPr>
          <p:nvPr/>
        </p:nvSpPr>
        <p:spPr>
          <a:xfrm>
            <a:off x="693684" y="2307469"/>
            <a:ext cx="10610192" cy="4471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dirty="0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45050" y="2743199"/>
            <a:ext cx="1051152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latin typeface="Arial" panose="020B0604020202020204" pitchFamily="34" charset="0"/>
                <a:ea typeface="Calibri" panose="020F0502020204030204" pitchFamily="34" charset="0"/>
              </a:rPr>
              <a:t>	Portanto, mediações digitais constituem ferramentas fundamentais no processo de ensino e aprendizagem da Matemática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450546228"/>
      </p:ext>
    </p:extLst>
  </p:cSld>
  <p:clrMapOvr>
    <a:masterClrMapping/>
  </p:clrMapOvr>
  <p:transition spd="med">
    <p:whee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PT" sz="3600" b="1" dirty="0">
                <a:solidFill>
                  <a:schemeClr val="bg1"/>
                </a:solidFill>
              </a:rPr>
              <a:t>GAMEFICAÇÃO E PERSONALIZAÇÃO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545414" y="2824906"/>
            <a:ext cx="98057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A GAMEFICAÇÃO</a:t>
            </a:r>
            <a:r>
              <a:rPr lang="pt-PT" sz="3200" dirty="0">
                <a:latin typeface="Arial" panose="020B0604020202020204" pitchFamily="34" charset="0"/>
                <a:cs typeface="Arial" panose="020B0604020202020204" pitchFamily="34" charset="0"/>
              </a:rPr>
              <a:t>, utiliza elementos de jogos em ambientes de aprendizagem para tornar o estudo mais motivador e divertido. 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Isso aumenta a particiapação activa dos alunos e os incentiva a persistir diante dos desafios, promovendo maior enganjamento e retenção do conteúdo.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riângulo isósceles 5"/>
          <p:cNvSpPr/>
          <p:nvPr/>
        </p:nvSpPr>
        <p:spPr>
          <a:xfrm rot="5400000">
            <a:off x="-896926" y="2387524"/>
            <a:ext cx="3181610" cy="1387758"/>
          </a:xfrm>
          <a:prstGeom prst="triangle">
            <a:avLst>
              <a:gd name="adj" fmla="val 492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952316232"/>
      </p:ext>
    </p:extLst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PT" sz="3600" b="1" dirty="0">
                <a:solidFill>
                  <a:schemeClr val="bg1"/>
                </a:solidFill>
              </a:rPr>
              <a:t>PERSONALIZAÇÃO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35117" y="2333685"/>
            <a:ext cx="103579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PERSONALIZAÇÃO</a:t>
            </a:r>
            <a:r>
              <a:rPr lang="pt-PT" sz="3200" dirty="0">
                <a:latin typeface="Arial" panose="020B0604020202020204" pitchFamily="34" charset="0"/>
                <a:cs typeface="Arial" panose="020B0604020202020204" pitchFamily="34" charset="0"/>
              </a:rPr>
              <a:t>, permite adaptar o conteúdo, actividades e desafios ao nível e ritmo de cada aluno. A </a:t>
            </a:r>
            <a:r>
              <a:rPr lang="pt-PT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personalização faz com que os estudantes sintam que o aprendizado é relevante e apropriado para suas necessidades, promovendo mais autonomia, interesse e enaganjamento contínuo no processo educativo.</a:t>
            </a:r>
            <a:endParaRPr lang="pt-BR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riângulo isósceles 5"/>
          <p:cNvSpPr/>
          <p:nvPr/>
        </p:nvSpPr>
        <p:spPr>
          <a:xfrm rot="5400000">
            <a:off x="-1297759" y="2788357"/>
            <a:ext cx="3983276" cy="1387758"/>
          </a:xfrm>
          <a:prstGeom prst="triangle">
            <a:avLst>
              <a:gd name="adj" fmla="val 49234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010746147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PT" b="1" i="0" u="sng" strike="noStrike" baseline="0" dirty="0">
                <a:latin typeface="Arial" panose="020B0604020202020204" pitchFamily="34" charset="0"/>
              </a:rPr>
              <a:t>METODOLOGIA DO ESTUDO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1804" y="2617148"/>
            <a:ext cx="10494251" cy="3416300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Experimento com 10 alunos voluntários da 10ª classe (Liceu BG–1062 </a:t>
            </a:r>
            <a:r>
              <a:rPr lang="pt-PT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Massangarala</a:t>
            </a:r>
            <a:r>
              <a:rPr lang="pt-PT" sz="28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).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Uso do app por 2–3 semanas em conteúdos específicos: potência, radiciação, polinômios, equações da circunferência.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8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Observação dos resultados e relatos motivacionais.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279085037"/>
      </p:ext>
    </p:extLst>
  </p:cSld>
  <p:clrMapOvr>
    <a:masterClrMapping/>
  </p:clrMapOvr>
  <p:transition spd="med">
    <p:newsfla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/>
          <p:cNvGraphicFramePr/>
          <p:nvPr>
            <p:extLst>
              <p:ext uri="{D42A27DB-BD31-4B8C-83A1-F6EECF244321}">
                <p14:modId xmlns:p14="http://schemas.microsoft.com/office/powerpoint/2010/main" val="239038881"/>
              </p:ext>
            </p:extLst>
          </p:nvPr>
        </p:nvGraphicFramePr>
        <p:xfrm>
          <a:off x="475989" y="726510"/>
          <a:ext cx="11298477" cy="6043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10510502" y="6503680"/>
            <a:ext cx="2006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i="1" dirty="0"/>
              <a:t>Tchipepe.2025</a:t>
            </a:r>
            <a:endParaRPr lang="pt-BR" sz="1600" b="1" i="1" dirty="0"/>
          </a:p>
        </p:txBody>
      </p:sp>
    </p:spTree>
    <p:extLst>
      <p:ext uri="{BB962C8B-B14F-4D97-AF65-F5344CB8AC3E}">
        <p14:creationId xmlns:p14="http://schemas.microsoft.com/office/powerpoint/2010/main" val="350677441"/>
      </p:ext>
    </p:extLst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PT" b="1" i="0" u="none" strike="noStrike" baseline="0" dirty="0">
                <a:latin typeface="Arial" panose="020B0604020202020204" pitchFamily="34" charset="0"/>
              </a:rPr>
              <a:t>RESULTADOS E IMPACTO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731" y="2461655"/>
            <a:ext cx="10259861" cy="3688624"/>
          </a:xfrm>
        </p:spPr>
        <p:txBody>
          <a:bodyPr>
            <a:noAutofit/>
          </a:bodyPr>
          <a:lstStyle/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36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7 em 10 alunos apresentaram melhorias nas notas e na motivação.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36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Aumento do tempo de estudo, autoconfiança e interesse pela disciplina.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36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Relevância do Math Fácil para reduzir defasagens e promover autonomia.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044050514"/>
      </p:ext>
    </p:extLst>
  </p:cSld>
  <p:clrMapOvr>
    <a:masterClrMapping/>
  </p:clrMapOvr>
  <p:transition spd="med">
    <p:zoom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PT" b="1" i="0" u="sng" strike="noStrike" baseline="0" dirty="0">
                <a:latin typeface="Arial" panose="020B0604020202020204" pitchFamily="34" charset="0"/>
              </a:rPr>
              <a:t>SOLUÇÃO PROPOSTA — MATH FÁCIL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2133" y="2270405"/>
            <a:ext cx="9807054" cy="4351338"/>
          </a:xfrm>
        </p:spPr>
        <p:txBody>
          <a:bodyPr>
            <a:normAutofit fontScale="92500" lnSpcReduction="20000"/>
          </a:bodyPr>
          <a:lstStyle/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PT" sz="35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Aplicativo didático para os subsistemas: </a:t>
            </a:r>
            <a:r>
              <a:rPr lang="pt-PT" sz="35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a) Ensino Primário, b) Iº Ciclo, c) Médio e, d) Superior.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35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Exercícios interativos, feedback sonoro, reforço visual e gamificação.</a:t>
            </a:r>
          </a:p>
          <a:p>
            <a:pPr marR="0" lvl="0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35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Personalização por nível de dificuldade e subsistema de ensino</a:t>
            </a:r>
            <a:r>
              <a:rPr lang="pt-PT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762991325"/>
      </p:ext>
    </p:extLst>
  </p:cSld>
  <p:clrMapOvr>
    <a:masterClrMapping/>
  </p:clrMapOvr>
  <p:transition spd="med">
    <p:plu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4121" y="565445"/>
            <a:ext cx="5800956" cy="1205861"/>
          </a:xfrm>
          <a:ln>
            <a:solidFill>
              <a:srgbClr val="0070C0"/>
            </a:solidFill>
            <a:prstDash val="sysDot"/>
          </a:ln>
        </p:spPr>
        <p:txBody>
          <a:bodyPr/>
          <a:lstStyle/>
          <a:p>
            <a:pPr marR="0" rtl="0"/>
            <a:r>
              <a:rPr lang="pt-PT" b="1" i="0" u="none" strike="noStrike" baseline="0" dirty="0">
                <a:latin typeface="Arial" panose="020B0604020202020204" pitchFamily="34" charset="0"/>
              </a:rPr>
              <a:t> FUNCIONALIDADES DO MATH FÁCIL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6883" y="2292264"/>
            <a:ext cx="6208194" cy="4033380"/>
          </a:xfrm>
        </p:spPr>
        <p:txBody>
          <a:bodyPr>
            <a:normAutofit/>
          </a:bodyPr>
          <a:lstStyle/>
          <a:p>
            <a:pPr marR="0" lvl="0" rtl="0">
              <a:buFont typeface="Wingdings" panose="05000000000000000000" pitchFamily="2" charset="2"/>
              <a:buChar char="q"/>
            </a:pPr>
            <a:r>
              <a:rPr lang="pt-BR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3 (três) modos de uso:</a:t>
            </a:r>
          </a:p>
          <a:p>
            <a:pPr marL="1077913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PT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JOGAR: </a:t>
            </a: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desafios progressivos com fases( Fácil, Intermédia</a:t>
            </a:r>
            <a:r>
              <a:rPr lang="pt-PT" sz="2800" b="0" i="0" u="none" strike="noStrike" dirty="0">
                <a:solidFill>
                  <a:schemeClr val="tx1"/>
                </a:solidFill>
                <a:latin typeface="Arial" panose="020B0604020202020204" pitchFamily="34" charset="0"/>
              </a:rPr>
              <a:t> e Difícil</a:t>
            </a: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1077913"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PT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TREINAR: </a:t>
            </a:r>
            <a:r>
              <a:rPr lang="pt-PT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simulações sem pressão de tempo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  <a:endParaRPr lang="pt-BR" sz="2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077913" marR="0" lvl="0" rt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ESTUDAR: </a:t>
            </a:r>
            <a:r>
              <a:rPr lang="pt-BR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materiais em PDF.</a:t>
            </a:r>
          </a:p>
          <a:p>
            <a:pPr marL="273050" marR="0" lvl="0" indent="-27305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800" b="1" dirty="0">
                <a:solidFill>
                  <a:schemeClr val="tx1"/>
                </a:solidFill>
                <a:latin typeface="Arial" panose="020B0604020202020204" pitchFamily="34" charset="0"/>
              </a:rPr>
              <a:t>Botão Sobre o Autor</a:t>
            </a:r>
            <a:r>
              <a:rPr lang="pt-PT" sz="28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lang="pt-PT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6488668"/>
            <a:ext cx="2006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Tchipepe.2025</a:t>
            </a:r>
            <a:endParaRPr lang="pt-BR" b="1" i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811" y="79712"/>
            <a:ext cx="5307072" cy="6457758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7716034" y="6488668"/>
            <a:ext cx="3820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da página Inicial</a:t>
            </a:r>
            <a:endParaRPr lang="pt-BR" sz="1400" b="1" i="1" dirty="0"/>
          </a:p>
        </p:txBody>
      </p:sp>
    </p:spTree>
    <p:extLst>
      <p:ext uri="{BB962C8B-B14F-4D97-AF65-F5344CB8AC3E}">
        <p14:creationId xmlns:p14="http://schemas.microsoft.com/office/powerpoint/2010/main" val="2851481530"/>
      </p:ext>
    </p:extLst>
  </p:cSld>
  <p:clrMapOvr>
    <a:masterClrMapping/>
  </p:clrMapOvr>
  <p:transition spd="med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364648"/>
            <a:ext cx="5574083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algn="just">
              <a:lnSpc>
                <a:spcPct val="100000"/>
              </a:lnSpc>
            </a:pPr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Está divido em Subsistemas e em fases.</a:t>
            </a:r>
          </a:p>
          <a:p>
            <a:pPr marL="1077913" lvl="0" indent="-363538" algn="just"/>
            <a:r>
              <a:rPr lang="pt-PT" sz="2400" b="1" dirty="0">
                <a:solidFill>
                  <a:schemeClr val="bg1"/>
                </a:solidFill>
                <a:latin typeface="Arial" panose="020B0604020202020204" pitchFamily="34" charset="0"/>
              </a:rPr>
              <a:t>Subsistemas:</a:t>
            </a:r>
          </a:p>
          <a:p>
            <a:pPr marL="1077913" lvl="0"/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a)Ensino Primário,</a:t>
            </a:r>
          </a:p>
          <a:p>
            <a:pPr marL="1077913" lvl="0"/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b)Iº Ciclo, </a:t>
            </a:r>
          </a:p>
          <a:p>
            <a:pPr marL="1077913" lvl="0"/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c)Médio e</a:t>
            </a:r>
          </a:p>
          <a:p>
            <a:pPr marL="1077913" lvl="0"/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d)Superior</a:t>
            </a:r>
            <a:r>
              <a:rPr lang="pt-PT" sz="2000" i="1" spc="300" dirty="0">
                <a:latin typeface="Arial" panose="020B0604020202020204" pitchFamily="34" charset="0"/>
              </a:rPr>
              <a:t>.</a:t>
            </a:r>
          </a:p>
          <a:p>
            <a:pPr marL="801688" indent="-87313" algn="just">
              <a:lnSpc>
                <a:spcPct val="100000"/>
              </a:lnSpc>
            </a:pPr>
            <a:r>
              <a:rPr lang="pt-PT" sz="2400" b="1" dirty="0">
                <a:solidFill>
                  <a:schemeClr val="bg1"/>
                </a:solidFill>
                <a:latin typeface="Arial" panose="020B0604020202020204" pitchFamily="34" charset="0"/>
              </a:rPr>
              <a:t>E, as Fases: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Fácil,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Intermédia e,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i="1" spc="300" dirty="0">
                <a:solidFill>
                  <a:schemeClr val="bg1"/>
                </a:solidFill>
                <a:latin typeface="Arial" panose="020B0604020202020204" pitchFamily="34" charset="0"/>
              </a:rPr>
              <a:t>Difícil</a:t>
            </a:r>
            <a:r>
              <a:rPr lang="pt-PT" sz="2000" spc="3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marL="1077913">
              <a:lnSpc>
                <a:spcPct val="100000"/>
              </a:lnSpc>
            </a:pPr>
            <a:endParaRPr lang="pt-PT" sz="2000" spc="3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538163">
              <a:lnSpc>
                <a:spcPct val="100000"/>
              </a:lnSpc>
            </a:pPr>
            <a:r>
              <a:rPr lang="pt-PT" sz="2000" b="1" i="1" spc="300" dirty="0">
                <a:solidFill>
                  <a:schemeClr val="bg1"/>
                </a:solidFill>
                <a:latin typeface="Arial" panose="020B0604020202020204" pitchFamily="34" charset="0"/>
              </a:rPr>
              <a:t>+Mais Temporizador de 45s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27134" y="538619"/>
            <a:ext cx="422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MODO JOGAR</a:t>
            </a:r>
            <a:endParaRPr lang="pt-BR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790" y="1364648"/>
            <a:ext cx="5973288" cy="3728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aixaDeTexto 8"/>
          <p:cNvSpPr txBox="1"/>
          <p:nvPr/>
        </p:nvSpPr>
        <p:spPr>
          <a:xfrm>
            <a:off x="7564420" y="5425299"/>
            <a:ext cx="3820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do Modo Jogar</a:t>
            </a:r>
            <a:endParaRPr lang="pt-BR" sz="1400" b="1" i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10226723" y="6437077"/>
            <a:ext cx="2006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i="1" dirty="0"/>
              <a:t>Tchipepe.2025</a:t>
            </a:r>
            <a:endParaRPr lang="pt-BR" sz="1600" b="1" i="1" dirty="0"/>
          </a:p>
        </p:txBody>
      </p:sp>
    </p:spTree>
    <p:extLst>
      <p:ext uri="{BB962C8B-B14F-4D97-AF65-F5344CB8AC3E}">
        <p14:creationId xmlns:p14="http://schemas.microsoft.com/office/powerpoint/2010/main" val="2100674412"/>
      </p:ext>
    </p:extLst>
  </p:cSld>
  <p:clrMapOvr>
    <a:masterClrMapping/>
  </p:clrMapOvr>
  <p:transition spd="med">
    <p:spli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-112735" y="1364647"/>
            <a:ext cx="5924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lvl="0">
              <a:lnSpc>
                <a:spcPct val="150000"/>
              </a:lnSpc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</a:rPr>
              <a:t>Os modos jogar e treinar tem uma questão e, 4 (quatro) opções, A, B,C,D e apenas uma destas, é a opção certa e quando o estudante/jogador clicar numa das opções, a mesma estará marcada e tãon logo clicar em respoder terá o feedback visual( led vermelha ou verde, se estiver errado ou certo respectivamente), e também o feedback sonoro(Parabéns voce acertou ou não desista.)</a:t>
            </a:r>
            <a:endParaRPr lang="pt-PT" spc="3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538163">
              <a:lnSpc>
                <a:spcPct val="100000"/>
              </a:lnSpc>
            </a:pPr>
            <a:r>
              <a:rPr lang="pt-PT" b="1" i="1" spc="300" dirty="0">
                <a:solidFill>
                  <a:schemeClr val="bg1"/>
                </a:solidFill>
                <a:latin typeface="Arial" panose="020B0604020202020204" pitchFamily="34" charset="0"/>
              </a:rPr>
              <a:t>       +Mais Temporizador de 45s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27134" y="538619"/>
            <a:ext cx="422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MODO JOGAR</a:t>
            </a:r>
            <a:endParaRPr lang="pt-BR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597286" y="6354593"/>
            <a:ext cx="3820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do Modo Jogar- Perguntas</a:t>
            </a:r>
            <a:endParaRPr lang="pt-BR" sz="1400" b="1" i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205901" y="6493093"/>
            <a:ext cx="2006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i="1" dirty="0"/>
              <a:t>Tchipepe.2025</a:t>
            </a:r>
            <a:endParaRPr lang="pt-BR" sz="1600" b="1" i="1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248" y="81584"/>
            <a:ext cx="6210752" cy="601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9098"/>
      </p:ext>
    </p:extLst>
  </p:cSld>
  <p:clrMapOvr>
    <a:masterClrMapping/>
  </p:clrMapOvr>
  <p:transition spd="med"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501745"/>
            <a:ext cx="5574083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algn="just">
              <a:lnSpc>
                <a:spcPct val="100000"/>
              </a:lnSpc>
            </a:pPr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Está divido em Subsistemas e em fases.</a:t>
            </a:r>
          </a:p>
          <a:p>
            <a:pPr marL="1077913" algn="just">
              <a:lnSpc>
                <a:spcPct val="100000"/>
              </a:lnSpc>
            </a:pPr>
            <a:endParaRPr lang="pt-PT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077913" lvl="0" algn="just"/>
            <a:r>
              <a:rPr lang="pt-PT" sz="2400" b="1" dirty="0">
                <a:solidFill>
                  <a:schemeClr val="bg1"/>
                </a:solidFill>
                <a:latin typeface="Arial" panose="020B0604020202020204" pitchFamily="34" charset="0"/>
              </a:rPr>
              <a:t>Subsistemas:</a:t>
            </a:r>
          </a:p>
          <a:p>
            <a:pPr marL="1077913" lvl="0" algn="just"/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a) Ensino Primário,</a:t>
            </a:r>
          </a:p>
          <a:p>
            <a:pPr marL="1077913" lvl="0" algn="just"/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 b) Iº Ciclo, </a:t>
            </a:r>
          </a:p>
          <a:p>
            <a:pPr marL="1077913" lvl="0" algn="just"/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c) Médio e</a:t>
            </a:r>
          </a:p>
          <a:p>
            <a:pPr marL="1077913" lvl="0" algn="just"/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d)Superior</a:t>
            </a:r>
            <a:r>
              <a:rPr lang="pt-PT" sz="2000" b="1" spc="300" dirty="0">
                <a:latin typeface="Arial" panose="020B0604020202020204" pitchFamily="34" charset="0"/>
              </a:rPr>
              <a:t>.</a:t>
            </a:r>
          </a:p>
          <a:p>
            <a:pPr marL="1077913" algn="just">
              <a:lnSpc>
                <a:spcPct val="100000"/>
              </a:lnSpc>
            </a:pPr>
            <a:endParaRPr lang="pt-PT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077913" algn="just">
              <a:lnSpc>
                <a:spcPct val="100000"/>
              </a:lnSpc>
            </a:pPr>
            <a:r>
              <a:rPr lang="pt-PT" sz="2400" b="1" dirty="0">
                <a:solidFill>
                  <a:schemeClr val="bg1"/>
                </a:solidFill>
                <a:latin typeface="Arial" panose="020B0604020202020204" pitchFamily="34" charset="0"/>
              </a:rPr>
              <a:t>E, as Fases: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Fácil,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Intermédia e,</a:t>
            </a:r>
          </a:p>
          <a:p>
            <a:pPr marL="1535113" indent="-457200">
              <a:lnSpc>
                <a:spcPct val="100000"/>
              </a:lnSpc>
              <a:buAutoNum type="arabicPeriod"/>
            </a:pPr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Difícil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27134" y="538619"/>
            <a:ext cx="422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MODO TREINAR</a:t>
            </a:r>
            <a:endParaRPr lang="pt-BR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10" y="1365662"/>
            <a:ext cx="5997780" cy="3800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aixaDeTexto 8"/>
          <p:cNvSpPr txBox="1"/>
          <p:nvPr/>
        </p:nvSpPr>
        <p:spPr>
          <a:xfrm>
            <a:off x="7648848" y="5389205"/>
            <a:ext cx="3244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do Modo treinar</a:t>
            </a:r>
            <a:endParaRPr lang="pt-BR" sz="1400" b="1" i="1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62" r="1162" b="68607"/>
          <a:stretch/>
        </p:blipFill>
        <p:spPr>
          <a:xfrm>
            <a:off x="6289225" y="1959429"/>
            <a:ext cx="5391150" cy="995411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606123" y="5904783"/>
            <a:ext cx="4361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8163">
              <a:lnSpc>
                <a:spcPct val="100000"/>
              </a:lnSpc>
            </a:pPr>
            <a:r>
              <a:rPr lang="pt-PT" b="1" i="1" spc="300" dirty="0">
                <a:solidFill>
                  <a:schemeClr val="bg1"/>
                </a:solidFill>
                <a:latin typeface="Arial" panose="020B0604020202020204" pitchFamily="34" charset="0"/>
              </a:rPr>
              <a:t>Não usa o Temporizador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052200306"/>
      </p:ext>
    </p:extLst>
  </p:cSld>
  <p:clrMapOvr>
    <a:masterClrMapping/>
  </p:clrMapOvr>
  <p:transition spd="med">
    <p:strip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-269878" y="1408496"/>
            <a:ext cx="557408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algn="just">
              <a:lnSpc>
                <a:spcPct val="100000"/>
              </a:lnSpc>
            </a:pPr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Está divido em Subsistemas e em fases.</a:t>
            </a:r>
          </a:p>
          <a:p>
            <a:pPr marL="1077913" lvl="0" algn="just"/>
            <a:endParaRPr lang="pt-PT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077913" lvl="0" indent="-276225" algn="just"/>
            <a:r>
              <a:rPr lang="pt-PT" sz="2400" b="1" dirty="0">
                <a:solidFill>
                  <a:schemeClr val="bg1"/>
                </a:solidFill>
                <a:latin typeface="Arial" panose="020B0604020202020204" pitchFamily="34" charset="0"/>
              </a:rPr>
              <a:t>Subsistemas:</a:t>
            </a:r>
          </a:p>
          <a:p>
            <a:pPr marL="1077913" lvl="0" algn="just"/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a) Ensino Primário,</a:t>
            </a:r>
          </a:p>
          <a:p>
            <a:pPr marL="1077913" lvl="0" algn="just"/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 b) Iº Ciclo, </a:t>
            </a:r>
          </a:p>
          <a:p>
            <a:pPr marL="1077913" lvl="0" algn="just"/>
            <a:r>
              <a:rPr lang="pt-PT" sz="2000" b="1" spc="300" dirty="0">
                <a:solidFill>
                  <a:schemeClr val="bg1"/>
                </a:solidFill>
                <a:latin typeface="Arial" panose="020B0604020202020204" pitchFamily="34" charset="0"/>
              </a:rPr>
              <a:t> c) Médio.</a:t>
            </a:r>
          </a:p>
          <a:p>
            <a:pPr marL="1077913" lvl="0" algn="just"/>
            <a:endParaRPr lang="pt-PT" sz="2000" b="1" spc="3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077913" lvl="0" algn="just"/>
            <a:endParaRPr lang="pt-PT" sz="2000" b="1" spc="3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077913" lvl="0" algn="just"/>
            <a:r>
              <a:rPr lang="pt-PT" sz="2000" spc="300" dirty="0">
                <a:solidFill>
                  <a:schemeClr val="bg1"/>
                </a:solidFill>
                <a:latin typeface="Arial" panose="020B0604020202020204" pitchFamily="34" charset="0"/>
              </a:rPr>
              <a:t>	O estudante/ jogador ao clicar numas das opções terá um pdf do conteúdo programado para o seu subsistema de acordo com MED-Angola. </a:t>
            </a:r>
          </a:p>
          <a:p>
            <a:pPr marL="1077913" algn="just">
              <a:lnSpc>
                <a:spcPct val="100000"/>
              </a:lnSpc>
            </a:pPr>
            <a:endParaRPr lang="pt-PT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814192" y="700610"/>
            <a:ext cx="4759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MODO ESTUDAR</a:t>
            </a:r>
            <a:endParaRPr lang="pt-BR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458029" y="5863617"/>
            <a:ext cx="3244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do Modo Estudar</a:t>
            </a:r>
            <a:endParaRPr lang="pt-BR" sz="1400" b="1" i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38" r="6353"/>
          <a:stretch/>
        </p:blipFill>
        <p:spPr>
          <a:xfrm>
            <a:off x="6074472" y="1358292"/>
            <a:ext cx="5711868" cy="4505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aixaDeTexto 9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010774858"/>
      </p:ext>
    </p:extLst>
  </p:cSld>
  <p:clrMapOvr>
    <a:masterClrMapping/>
  </p:clrMapOvr>
  <p:transition spd="med">
    <p:strips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-332509" y="2831782"/>
            <a:ext cx="38476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algn="just">
              <a:lnSpc>
                <a:spcPct val="100000"/>
              </a:lnSpc>
            </a:pPr>
            <a:r>
              <a:rPr lang="pt-PT" sz="2000" b="1" dirty="0">
                <a:solidFill>
                  <a:schemeClr val="bg1"/>
                </a:solidFill>
                <a:latin typeface="Arial" panose="020B0604020202020204" pitchFamily="34" charset="0"/>
              </a:rPr>
              <a:t>	Este botão mostra os detalhes de seu criador!</a:t>
            </a:r>
          </a:p>
          <a:p>
            <a:pPr marL="1077913" algn="just">
              <a:lnSpc>
                <a:spcPct val="100000"/>
              </a:lnSpc>
            </a:pPr>
            <a:endParaRPr lang="pt-PT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02044" y="711961"/>
            <a:ext cx="587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u="sng" dirty="0">
                <a:solidFill>
                  <a:schemeClr val="bg1"/>
                </a:solidFill>
                <a:latin typeface="Arial" panose="020B0604020202020204" pitchFamily="34" charset="0"/>
              </a:rPr>
              <a:t>BOTÃO</a:t>
            </a:r>
            <a:r>
              <a:rPr lang="pt-BR" sz="2400" b="1" u="sng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BR" sz="3600" b="1" u="sng" dirty="0">
                <a:solidFill>
                  <a:schemeClr val="bg1"/>
                </a:solidFill>
                <a:latin typeface="Arial" panose="020B0604020202020204" pitchFamily="34" charset="0"/>
              </a:rPr>
              <a:t>SOBRE O AUTOR</a:t>
            </a:r>
            <a:endParaRPr lang="pt-BR" sz="1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6579255" y="6447840"/>
            <a:ext cx="3681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Leg. Imagem do botão Sobre o Autor</a:t>
            </a:r>
            <a:endParaRPr lang="pt-BR" sz="1400" b="1" i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417705" y="6500082"/>
            <a:ext cx="2006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i="1" dirty="0"/>
              <a:t>Tchipepe.2025</a:t>
            </a:r>
            <a:endParaRPr lang="pt-BR" sz="1400" b="1" i="1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" t="1337" b="1848"/>
          <a:stretch/>
        </p:blipFill>
        <p:spPr>
          <a:xfrm>
            <a:off x="3927135" y="1524505"/>
            <a:ext cx="7992549" cy="4749967"/>
          </a:xfrm>
          <a:prstGeom prst="round2DiagRect">
            <a:avLst>
              <a:gd name="adj1" fmla="val 10029"/>
              <a:gd name="adj2" fmla="val 0"/>
            </a:avLst>
          </a:prstGeom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9604420"/>
      </p:ext>
    </p:extLst>
  </p:cSld>
  <p:clrMapOvr>
    <a:masterClrMapping/>
  </p:clrMapOvr>
  <p:transition spd="med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PT" b="1" i="0" u="sng" strike="noStrike" baseline="0" dirty="0">
                <a:latin typeface="Arial" panose="020B0604020202020204" pitchFamily="34" charset="0"/>
              </a:rPr>
              <a:t>LIMITAÇÕES E RECOMENDAÇÕES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87470" y="2222939"/>
            <a:ext cx="11352433" cy="3909848"/>
          </a:xfrm>
        </p:spPr>
        <p:txBody>
          <a:bodyPr>
            <a:noAutofit/>
          </a:bodyPr>
          <a:lstStyle/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40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Ampliar testes em mais escolas e nos diferentes níveis de ensino.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40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Necessidade de apoio institucional para implantação em larga escala.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t-PT" sz="4000" i="0" u="none" strike="noStrike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 Incentivo à formação de professores em uso de tecnologias digitais.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194195674"/>
      </p:ext>
    </p:extLst>
  </p:cSld>
  <p:clrMapOvr>
    <a:masterClrMapping/>
  </p:clrMapOvr>
  <p:transition spd="med">
    <p:wipe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4017" y="2258904"/>
            <a:ext cx="4351025" cy="2283824"/>
          </a:xfrm>
          <a:ln w="19050">
            <a:solidFill>
              <a:schemeClr val="bg1"/>
            </a:solidFill>
            <a:prstDash val="sysDot"/>
          </a:ln>
        </p:spPr>
        <p:txBody>
          <a:bodyPr>
            <a:normAutofit/>
          </a:bodyPr>
          <a:lstStyle/>
          <a:p>
            <a:pPr marR="0" algn="ctr" rtl="0"/>
            <a:r>
              <a:rPr lang="pt-BR" sz="4800" b="1" i="0" u="sng" strike="noStrike" baseline="0" dirty="0">
                <a:latin typeface="Arial" panose="020B0604020202020204" pitchFamily="34" charset="0"/>
              </a:rPr>
              <a:t>CONCLUSÃO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98510" y="187890"/>
            <a:ext cx="6764053" cy="65886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342900" marR="0" lvl="0" indent="-342900" rtl="0">
              <a:buFont typeface="Wingdings" panose="05000000000000000000" pitchFamily="2" charset="2"/>
              <a:buChar char="q"/>
            </a:pPr>
            <a:r>
              <a:rPr lang="pt-PT" sz="2800" b="0" i="0" u="none" strike="noStrike" baseline="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 </a:t>
            </a:r>
            <a:r>
              <a:rPr lang="pt-PT" sz="3100" b="0" i="0" u="none" strike="noStrike" baseline="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Math Fácil é uma iniciativa inovadora, acessível e eficaz para o ensinoaprendizagem da Matemática.</a:t>
            </a:r>
          </a:p>
          <a:p>
            <a:pPr marL="342900" marR="0" lvl="0" indent="-342900" rtl="0">
              <a:buFont typeface="Wingdings" panose="05000000000000000000" pitchFamily="2" charset="2"/>
              <a:buChar char="q"/>
            </a:pPr>
            <a:r>
              <a:rPr lang="pt-PT" sz="3100" b="0" i="0" u="none" strike="noStrike" baseline="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 Potencial para transformar realidades educacionais e motivar os estudantes angolanos</a:t>
            </a:r>
            <a:r>
              <a:rPr lang="pt-PT" sz="3100" baseline="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.</a:t>
            </a:r>
            <a:endParaRPr lang="pt-PT" sz="3100" b="0" i="0" u="none" strike="noStrike" baseline="0" dirty="0">
              <a:solidFill>
                <a:schemeClr val="tx1"/>
              </a:solidFill>
              <a:latin typeface="Adobe Garamond Pro Bold" panose="02020702060506020403" pitchFamily="18" charset="0"/>
            </a:endParaRPr>
          </a:p>
          <a:p>
            <a:pPr marL="342900" marR="0" lvl="0" indent="-342900" rtl="0">
              <a:buFont typeface="Wingdings" panose="05000000000000000000" pitchFamily="2" charset="2"/>
              <a:buChar char="q"/>
            </a:pPr>
            <a:r>
              <a:rPr lang="pt-PT" sz="3100" b="0" i="0" u="none" strike="noStrike" baseline="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 Disponível gratuitamente e de fácil adaptação às escolas do país.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51843" y="6581001"/>
            <a:ext cx="2006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dirty="0"/>
              <a:t>Tchipepe.2025</a:t>
            </a:r>
            <a:endParaRPr lang="pt-BR" sz="1200" b="1" i="1" dirty="0"/>
          </a:p>
        </p:txBody>
      </p:sp>
    </p:spTree>
    <p:extLst>
      <p:ext uri="{BB962C8B-B14F-4D97-AF65-F5344CB8AC3E}">
        <p14:creationId xmlns:p14="http://schemas.microsoft.com/office/powerpoint/2010/main" val="367244858"/>
      </p:ext>
    </p:extLst>
  </p:cSld>
  <p:clrMapOvr>
    <a:masterClrMapping/>
  </p:clrMapOvr>
  <p:transition spd="med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3509" y="3409810"/>
            <a:ext cx="5053539" cy="966785"/>
          </a:xfrm>
        </p:spPr>
        <p:txBody>
          <a:bodyPr/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pt-PT" sz="4800" b="1" dirty="0">
                <a:solidFill>
                  <a:schemeClr val="tx1"/>
                </a:solidFill>
              </a:rPr>
              <a:t>OBRIGADO</a:t>
            </a:r>
            <a:br>
              <a:rPr lang="pt-PT" sz="4800" b="1" dirty="0">
                <a:solidFill>
                  <a:schemeClr val="tx1"/>
                </a:solidFill>
              </a:rPr>
            </a:br>
            <a:endParaRPr lang="pt-BR" sz="4800" b="1" dirty="0">
              <a:solidFill>
                <a:schemeClr val="tx1"/>
              </a:solidFill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gray">
          <a:xfrm>
            <a:off x="692107" y="1590980"/>
            <a:ext cx="5436295" cy="3557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endParaRPr lang="pt-PT" b="1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VWAKAFIKA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TWAMPANDULA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NGASSAKIDILA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MATODO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TWALUMBA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PT" b="1" spc="300" dirty="0">
                <a:solidFill>
                  <a:schemeClr val="bg1"/>
                </a:solidFill>
              </a:rPr>
              <a:t>UAKALALA</a:t>
            </a:r>
            <a:r>
              <a:rPr lang="pt-PT" b="1" dirty="0">
                <a:solidFill>
                  <a:schemeClr val="bg1"/>
                </a:solidFill>
              </a:rPr>
              <a:t/>
            </a:r>
            <a:br>
              <a:rPr lang="pt-PT" b="1" dirty="0">
                <a:solidFill>
                  <a:schemeClr val="bg1"/>
                </a:solidFill>
              </a:rPr>
            </a:b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367689" y="1590980"/>
            <a:ext cx="70802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4400" b="1" dirty="0"/>
              <a:t>MUCHAS GRACÍAS</a:t>
            </a:r>
            <a:endParaRPr lang="pt-BR" sz="4400" dirty="0"/>
          </a:p>
        </p:txBody>
      </p:sp>
      <p:sp>
        <p:nvSpPr>
          <p:cNvPr id="6" name="Retângulo 5"/>
          <p:cNvSpPr/>
          <p:nvPr/>
        </p:nvSpPr>
        <p:spPr>
          <a:xfrm>
            <a:off x="7585657" y="4087814"/>
            <a:ext cx="30388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4800" b="1" dirty="0"/>
              <a:t>MERCI</a:t>
            </a:r>
            <a:endParaRPr lang="pt-BR" sz="4800" dirty="0"/>
          </a:p>
        </p:txBody>
      </p:sp>
      <p:sp>
        <p:nvSpPr>
          <p:cNvPr id="7" name="Retângulo 6"/>
          <p:cNvSpPr/>
          <p:nvPr/>
        </p:nvSpPr>
        <p:spPr>
          <a:xfrm>
            <a:off x="6606976" y="2326593"/>
            <a:ext cx="70802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PT" sz="4800" b="1" dirty="0"/>
              <a:t>THANK YOU</a:t>
            </a:r>
            <a:endParaRPr lang="pt-BR" sz="48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0226723" y="6437077"/>
            <a:ext cx="200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1" dirty="0"/>
              <a:t>Tchipepe.2025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433385458"/>
      </p:ext>
    </p:extLst>
  </p:cSld>
  <p:clrMapOvr>
    <a:masterClrMapping/>
  </p:clrMapOvr>
  <p:transition spd="med"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379</TotalTime>
  <Words>1011</Words>
  <Application>Microsoft Office PowerPoint</Application>
  <PresentationFormat>Widescreen</PresentationFormat>
  <Paragraphs>138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4" baseType="lpstr">
      <vt:lpstr>Adobe Fan Heiti Std B</vt:lpstr>
      <vt:lpstr>Adobe Garamond Pro Bold</vt:lpstr>
      <vt:lpstr>Arial</vt:lpstr>
      <vt:lpstr>Calibri</vt:lpstr>
      <vt:lpstr>Century Gothic</vt:lpstr>
      <vt:lpstr>Consolas</vt:lpstr>
      <vt:lpstr>Mangal</vt:lpstr>
      <vt:lpstr>Wingdings</vt:lpstr>
      <vt:lpstr>Wingdings 3</vt:lpstr>
      <vt:lpstr>Ion</vt:lpstr>
      <vt:lpstr>REPÚBLICA ANGOLA MINISTÉRIO DO ENSINO SUPERIOR, CIÊNCIAS, TECNOLOGIA E INOVAÇÃO  INSTITUTO SUPERIOR DE CIÊNCIAS DE EDUCAÇÃO DE BENGUELA</vt:lpstr>
      <vt:lpstr> OBJETIVOS:</vt:lpstr>
      <vt:lpstr>O DESAFIO DO ENSINO DA MATEMÁTICA</vt:lpstr>
      <vt:lpstr> FUNDAMENTAÇÃO TEÓRICA</vt:lpstr>
      <vt:lpstr>PIAGET (APRENDIZAGEM ATIVA),</vt:lpstr>
      <vt:lpstr>VYGOTSKY (MEDIAÇÕES CULTURAIS)</vt:lpstr>
      <vt:lpstr>Apresentação do PowerPoint</vt:lpstr>
      <vt:lpstr>MEDIAÇÕES DIGITAIS SEGUNDO GONZÁLEZ</vt:lpstr>
      <vt:lpstr>MEDIAÇÕES DIGITAIS </vt:lpstr>
      <vt:lpstr>GAMEFICAÇÃO E PERSONALIZAÇÃO</vt:lpstr>
      <vt:lpstr>PERSONALIZAÇÃO</vt:lpstr>
      <vt:lpstr>METODOLOGIA DO ESTUDO</vt:lpstr>
      <vt:lpstr>Apresentação do PowerPoint</vt:lpstr>
      <vt:lpstr>RESULTADOS E IMPACTO</vt:lpstr>
      <vt:lpstr>SOLUÇÃO PROPOSTA — MATH FÁCIL</vt:lpstr>
      <vt:lpstr> FUNCIONALIDADES DO MATH FÁCIL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LIMITAÇÕES E RECOMENDAÇÕES</vt:lpstr>
      <vt:lpstr>CONCLUSÃO</vt:lpstr>
      <vt:lpstr>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REPÚBLICA ANGOLA MINISTÉRIO DO ENSINO SUPERIOR, CIÊNCIAS, TECNOLOGIA E INOVAÇÃO  UNIVERSIDADE CUITO CUANAVALE</dc:title>
  <dc:creator>LeoTchipepe</dc:creator>
  <cp:lastModifiedBy>MENONGUE_DME</cp:lastModifiedBy>
  <cp:revision>146</cp:revision>
  <dcterms:created xsi:type="dcterms:W3CDTF">2025-07-19T17:37:14Z</dcterms:created>
  <dcterms:modified xsi:type="dcterms:W3CDTF">2025-10-08T07:48:00Z</dcterms:modified>
</cp:coreProperties>
</file>